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DM Sans Bold"/>
      <p:bold r:id="rId13"/>
    </p:embeddedFont>
    <p:embeddedFont>
      <p:font typeface="Roboto" panose="02000000000000000000"/>
      <p:regular r:id="rId14"/>
    </p:embeddedFont>
    <p:embeddedFont>
      <p:font typeface="Cinzel Bold" panose="00000800000000000000"/>
      <p:bold r:id="rId15"/>
    </p:embeddedFont>
    <p:embeddedFont>
      <p:font typeface="Calibri" panose="020F0502020204030204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7.sv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7.sv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7.sv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7.sv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7.sv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5000"/>
              </a:blip>
              <a:stretch>
                <a:fillRect t="-124863" b="-12486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59849" y="275977"/>
            <a:ext cx="827942" cy="1173147"/>
            <a:chOff x="0" y="0"/>
            <a:chExt cx="1103922" cy="15641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03884" cy="1564132"/>
            </a:xfrm>
            <a:custGeom>
              <a:avLst/>
              <a:gdLst/>
              <a:ahLst/>
              <a:cxnLst/>
              <a:rect l="l" t="t" r="r" b="b"/>
              <a:pathLst>
                <a:path w="1103884" h="1564132">
                  <a:moveTo>
                    <a:pt x="0" y="0"/>
                  </a:moveTo>
                  <a:lnTo>
                    <a:pt x="1103884" y="0"/>
                  </a:lnTo>
                  <a:lnTo>
                    <a:pt x="1103884" y="1564132"/>
                  </a:lnTo>
                  <a:lnTo>
                    <a:pt x="0" y="1564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89" r="-3" b="-229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81376" y="406165"/>
            <a:ext cx="3040847" cy="48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203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VIVEKANAND</a:t>
            </a:r>
            <a:endParaRPr lang="en-US" sz="2030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2030"/>
              </a:lnSpc>
            </a:pPr>
            <a:r>
              <a:rPr lang="en-US" sz="203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EDUCATION SOCIETY’S</a:t>
            </a:r>
            <a:endParaRPr lang="en-US" sz="2030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54611" y="948661"/>
            <a:ext cx="2676554" cy="364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40" b="1" spc="12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INSTITUTE OF TECHNOLOGY</a:t>
            </a:r>
            <a:endParaRPr lang="en-US" sz="1240" b="1" spc="123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1485"/>
              </a:lnSpc>
            </a:pPr>
            <a:r>
              <a:rPr lang="en-US" sz="1240" b="1" spc="12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(AUTONOMOUS)</a:t>
            </a:r>
            <a:endParaRPr lang="en-US" sz="1240" b="1" spc="123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4156" y="1432455"/>
            <a:ext cx="420672" cy="10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"/>
              </a:lnSpc>
            </a:pPr>
            <a:r>
              <a:rPr lang="en-US" sz="610" spc="3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Since 1962</a:t>
            </a:r>
            <a:endParaRPr lang="en-US" sz="610" spc="3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16490061" y="275977"/>
            <a:ext cx="1538478" cy="1349388"/>
            <a:chOff x="0" y="0"/>
            <a:chExt cx="2051304" cy="179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51304" cy="1799209"/>
            </a:xfrm>
            <a:custGeom>
              <a:avLst/>
              <a:gdLst/>
              <a:ahLst/>
              <a:cxnLst/>
              <a:rect l="l" t="t" r="r" b="b"/>
              <a:pathLst>
                <a:path w="2051304" h="1799209">
                  <a:moveTo>
                    <a:pt x="0" y="0"/>
                  </a:moveTo>
                  <a:lnTo>
                    <a:pt x="2051304" y="0"/>
                  </a:lnTo>
                  <a:lnTo>
                    <a:pt x="2051304" y="1799209"/>
                  </a:lnTo>
                  <a:lnTo>
                    <a:pt x="0" y="1799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5934456" y="2214562"/>
            <a:ext cx="6828149" cy="1553185"/>
            <a:chOff x="0" y="0"/>
            <a:chExt cx="9104198" cy="20709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04249" cy="2070862"/>
            </a:xfrm>
            <a:custGeom>
              <a:avLst/>
              <a:gdLst/>
              <a:ahLst/>
              <a:cxnLst/>
              <a:rect l="l" t="t" r="r" b="b"/>
              <a:pathLst>
                <a:path w="9104249" h="2070862">
                  <a:moveTo>
                    <a:pt x="0" y="0"/>
                  </a:moveTo>
                  <a:lnTo>
                    <a:pt x="9104249" y="0"/>
                  </a:lnTo>
                  <a:lnTo>
                    <a:pt x="9104249" y="2070862"/>
                  </a:lnTo>
                  <a:lnTo>
                    <a:pt x="0" y="2070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0" b="-42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5814717" y="3886805"/>
            <a:ext cx="6658566" cy="165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0"/>
              </a:lnSpc>
            </a:pPr>
            <a:r>
              <a:rPr lang="en-US" sz="5360" b="1" spc="1146">
                <a:solidFill>
                  <a:srgbClr val="FFFFFF"/>
                </a:solidFill>
                <a:latin typeface="Cinzel Bold" panose="00000800000000000000"/>
                <a:ea typeface="Cinzel Bold" panose="00000800000000000000"/>
                <a:cs typeface="Cinzel Bold" panose="00000800000000000000"/>
                <a:sym typeface="Cinzel Bold" panose="00000800000000000000"/>
              </a:rPr>
              <a:t>HACKATHON</a:t>
            </a:r>
            <a:endParaRPr lang="en-US" sz="5360" b="1" spc="1146">
              <a:solidFill>
                <a:srgbClr val="FFFFFF"/>
              </a:solidFill>
              <a:latin typeface="Cinzel Bold" panose="00000800000000000000"/>
              <a:ea typeface="Cinzel Bold" panose="00000800000000000000"/>
              <a:cs typeface="Cinzel Bold" panose="00000800000000000000"/>
              <a:sym typeface="Cinzel Bold" panose="000008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5525395" y="766267"/>
            <a:ext cx="7775858" cy="524866"/>
            <a:chOff x="0" y="0"/>
            <a:chExt cx="10367810" cy="6998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67772" cy="699770"/>
            </a:xfrm>
            <a:custGeom>
              <a:avLst/>
              <a:gdLst/>
              <a:ahLst/>
              <a:cxnLst/>
              <a:rect l="l" t="t" r="r" b="b"/>
              <a:pathLst>
                <a:path w="10367772" h="699770">
                  <a:moveTo>
                    <a:pt x="0" y="0"/>
                  </a:moveTo>
                  <a:lnTo>
                    <a:pt x="10367772" y="0"/>
                  </a:lnTo>
                  <a:lnTo>
                    <a:pt x="10367772" y="699770"/>
                  </a:lnTo>
                  <a:lnTo>
                    <a:pt x="0" y="699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1" b="-370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877110" y="5170122"/>
            <a:ext cx="826689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749">
                <a:solidFill>
                  <a:srgbClr val="FFFFFF"/>
                </a:solidFill>
                <a:latin typeface="Cinzel Bold" panose="00000800000000000000"/>
                <a:ea typeface="Cinzel Bold" panose="00000800000000000000"/>
                <a:cs typeface="Cinzel Bold" panose="00000800000000000000"/>
                <a:sym typeface="Cinzel Bold" panose="00000800000000000000"/>
              </a:rPr>
              <a:t>DOMAIN:</a:t>
            </a:r>
            <a:r>
              <a:rPr lang="en-IN" altLang="en-US" sz="3500" b="1" spc="749">
                <a:solidFill>
                  <a:srgbClr val="FFFFFF"/>
                </a:solidFill>
                <a:latin typeface="Cinzel Bold" panose="00000800000000000000"/>
                <a:ea typeface="Cinzel Bold" panose="00000800000000000000"/>
                <a:cs typeface="Cinzel Bold" panose="00000800000000000000"/>
                <a:sym typeface="Cinzel Bold" panose="00000800000000000000"/>
              </a:rPr>
              <a:t> </a:t>
            </a:r>
            <a:r>
              <a:rPr lang="en-IN" altLang="en-US" sz="3500" b="1" spc="749">
                <a:solidFill>
                  <a:srgbClr val="FFFFFF"/>
                </a:solidFill>
                <a:latin typeface="Cinzel Bold" panose="00000800000000000000"/>
                <a:ea typeface="Cinzel Bold" panose="00000800000000000000"/>
                <a:cs typeface="Cinzel Bold" panose="00000800000000000000"/>
                <a:sym typeface="Cinzel Bold" panose="00000800000000000000"/>
              </a:rPr>
              <a:t>Sustainability</a:t>
            </a:r>
            <a:r>
              <a:rPr lang="en-IN" altLang="en-US" sz="3500" b="1" spc="749">
                <a:solidFill>
                  <a:srgbClr val="FFFFFF"/>
                </a:solidFill>
                <a:latin typeface="Cinzel Bold" panose="00000800000000000000"/>
                <a:ea typeface="Cinzel Bold" panose="00000800000000000000"/>
                <a:cs typeface="Cinzel Bold" panose="00000800000000000000"/>
                <a:sym typeface="Cinzel Bold" panose="00000800000000000000"/>
              </a:rPr>
              <a:t> </a:t>
            </a:r>
            <a:endParaRPr lang="en-IN" altLang="en-US" sz="3500" b="1" spc="749">
              <a:solidFill>
                <a:srgbClr val="FFFFFF"/>
              </a:solidFill>
              <a:latin typeface="Cinzel Bold" panose="00000800000000000000"/>
              <a:ea typeface="Cinzel Bold" panose="00000800000000000000"/>
              <a:cs typeface="Cinzel Bold" panose="00000800000000000000"/>
              <a:sym typeface="Cinzel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76935" y="6210300"/>
            <a:ext cx="12471400" cy="1256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749">
                <a:solidFill>
                  <a:srgbClr val="FFFFFF"/>
                </a:solidFill>
                <a:latin typeface="Cinzel Bold" panose="00000800000000000000"/>
                <a:ea typeface="Cinzel Bold" panose="00000800000000000000"/>
                <a:cs typeface="Cinzel Bold" panose="00000800000000000000"/>
                <a:sym typeface="Cinzel Bold" panose="00000800000000000000"/>
              </a:rPr>
              <a:t>PS TITLE:</a:t>
            </a:r>
            <a:r>
              <a:rPr lang="en-IN" altLang="en-US" sz="3500" b="1" spc="749">
                <a:solidFill>
                  <a:srgbClr val="FFFFFF"/>
                </a:solidFill>
                <a:latin typeface="Cinzel Bold" panose="00000800000000000000"/>
                <a:ea typeface="Cinzel Bold" panose="00000800000000000000"/>
                <a:cs typeface="Cinzel Bold" panose="00000800000000000000"/>
                <a:sym typeface="Cinzel Bold" panose="00000800000000000000"/>
              </a:rPr>
              <a:t> </a:t>
            </a:r>
            <a:r>
              <a:rPr lang="en-IN" altLang="en-US" sz="3500" b="1" spc="749">
                <a:solidFill>
                  <a:srgbClr val="FFFFFF"/>
                </a:solidFill>
                <a:latin typeface="Cinzel Bold" panose="00000800000000000000"/>
                <a:ea typeface="Cinzel Bold" panose="00000800000000000000"/>
                <a:cs typeface="Cinzel Bold" panose="00000800000000000000"/>
                <a:sym typeface="Cinzel Bold" panose="00000800000000000000"/>
              </a:rPr>
              <a:t>campus connect</a:t>
            </a:r>
            <a:endParaRPr lang="en-IN" altLang="en-US" sz="3500" b="1" spc="749">
              <a:solidFill>
                <a:srgbClr val="FFFFFF"/>
              </a:solidFill>
              <a:latin typeface="Cinzel Bold" panose="00000800000000000000"/>
              <a:ea typeface="Cinzel Bold" panose="00000800000000000000"/>
              <a:cs typeface="Cinzel Bold" panose="00000800000000000000"/>
              <a:sym typeface="Cinzel Bold" panose="00000800000000000000"/>
            </a:endParaRPr>
          </a:p>
          <a:p>
            <a:pPr algn="l">
              <a:lnSpc>
                <a:spcPts val="4900"/>
              </a:lnSpc>
            </a:pPr>
            <a:endParaRPr lang="en-IN" altLang="en-US" sz="3500" b="1" spc="749">
              <a:solidFill>
                <a:srgbClr val="FFFFFF"/>
              </a:solidFill>
              <a:latin typeface="Cinzel Bold" panose="00000800000000000000"/>
              <a:ea typeface="Cinzel Bold" panose="00000800000000000000"/>
              <a:cs typeface="Cinzel Bold" panose="00000800000000000000"/>
              <a:sym typeface="Cinzel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77110" y="7249925"/>
            <a:ext cx="8266890" cy="1256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749">
                <a:solidFill>
                  <a:srgbClr val="FFFFFF"/>
                </a:solidFill>
                <a:latin typeface="Cinzel Bold" panose="00000800000000000000"/>
                <a:ea typeface="Cinzel Bold" panose="00000800000000000000"/>
                <a:cs typeface="Cinzel Bold" panose="00000800000000000000"/>
                <a:sym typeface="Cinzel Bold" panose="00000800000000000000"/>
              </a:rPr>
              <a:t>TEAM NAME:</a:t>
            </a:r>
            <a:r>
              <a:rPr lang="en-IN" altLang="en-US" sz="3500" b="1" spc="749">
                <a:solidFill>
                  <a:srgbClr val="FFFFFF"/>
                </a:solidFill>
                <a:latin typeface="Cinzel Bold" panose="00000800000000000000"/>
                <a:ea typeface="Cinzel Bold" panose="00000800000000000000"/>
                <a:cs typeface="Cinzel Bold" panose="00000800000000000000"/>
                <a:sym typeface="Cinzel Bold" panose="00000800000000000000"/>
              </a:rPr>
              <a:t> </a:t>
            </a:r>
            <a:r>
              <a:rPr lang="en-IN" altLang="en-US" sz="3500" b="1" spc="749">
                <a:solidFill>
                  <a:srgbClr val="FFFFFF"/>
                </a:solidFill>
                <a:latin typeface="Cinzel Bold" panose="00000800000000000000"/>
                <a:ea typeface="Cinzel Bold" panose="00000800000000000000"/>
                <a:cs typeface="Cinzel Bold" panose="00000800000000000000"/>
                <a:sym typeface="Cinzel Bold" panose="00000800000000000000"/>
              </a:rPr>
              <a:t>Team Eagle</a:t>
            </a:r>
            <a:endParaRPr lang="en-IN" altLang="en-US" sz="3500" b="1" spc="749">
              <a:solidFill>
                <a:srgbClr val="FFFFFF"/>
              </a:solidFill>
              <a:latin typeface="Cinzel Bold" panose="00000800000000000000"/>
              <a:ea typeface="Cinzel Bold" panose="00000800000000000000"/>
              <a:cs typeface="Cinzel Bold" panose="00000800000000000000"/>
              <a:sym typeface="Cinzel Bold" panose="00000800000000000000"/>
            </a:endParaRPr>
          </a:p>
          <a:p>
            <a:pPr algn="l">
              <a:lnSpc>
                <a:spcPts val="4900"/>
              </a:lnSpc>
            </a:pPr>
            <a:endParaRPr lang="en-IN" altLang="en-US" sz="3500" b="1" spc="749">
              <a:solidFill>
                <a:srgbClr val="FFFFFF"/>
              </a:solidFill>
              <a:latin typeface="Cinzel Bold" panose="00000800000000000000"/>
              <a:ea typeface="Cinzel Bold" panose="00000800000000000000"/>
              <a:cs typeface="Cinzel Bold" panose="00000800000000000000"/>
              <a:sym typeface="Cinzel Bold" panose="00000800000000000000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2225878" y="3901773"/>
            <a:ext cx="182232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V="1">
            <a:off x="4631005" y="3920823"/>
            <a:ext cx="1303172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5000"/>
              </a:blip>
              <a:stretch>
                <a:fillRect t="-124863" b="-12486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78431" y="590998"/>
            <a:ext cx="16731139" cy="9094927"/>
          </a:xfrm>
          <a:custGeom>
            <a:avLst/>
            <a:gdLst/>
            <a:ahLst/>
            <a:cxnLst/>
            <a:rect l="l" t="t" r="r" b="b"/>
            <a:pathLst>
              <a:path w="16731139" h="9094927">
                <a:moveTo>
                  <a:pt x="0" y="0"/>
                </a:moveTo>
                <a:lnTo>
                  <a:pt x="16731138" y="0"/>
                </a:lnTo>
                <a:lnTo>
                  <a:pt x="16731138" y="9094927"/>
                </a:lnTo>
                <a:lnTo>
                  <a:pt x="0" y="9094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15666853" y="7289806"/>
            <a:ext cx="3184903" cy="3184903"/>
            <a:chOff x="0" y="0"/>
            <a:chExt cx="4246537" cy="42465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46499" cy="4246499"/>
            </a:xfrm>
            <a:custGeom>
              <a:avLst/>
              <a:gdLst/>
              <a:ahLst/>
              <a:cxnLst/>
              <a:rect l="l" t="t" r="r" b="b"/>
              <a:pathLst>
                <a:path w="4246499" h="4246499">
                  <a:moveTo>
                    <a:pt x="0" y="0"/>
                  </a:moveTo>
                  <a:lnTo>
                    <a:pt x="4246499" y="0"/>
                  </a:lnTo>
                  <a:lnTo>
                    <a:pt x="4246499" y="4246499"/>
                  </a:lnTo>
                  <a:lnTo>
                    <a:pt x="0" y="4246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3915318" y="484413"/>
            <a:ext cx="10798350" cy="574824"/>
            <a:chOff x="0" y="0"/>
            <a:chExt cx="14397800" cy="7664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397737" cy="766445"/>
            </a:xfrm>
            <a:custGeom>
              <a:avLst/>
              <a:gdLst/>
              <a:ahLst/>
              <a:cxnLst/>
              <a:rect l="l" t="t" r="r" b="b"/>
              <a:pathLst>
                <a:path w="14397737" h="766445">
                  <a:moveTo>
                    <a:pt x="0" y="0"/>
                  </a:moveTo>
                  <a:lnTo>
                    <a:pt x="14397737" y="0"/>
                  </a:lnTo>
                  <a:lnTo>
                    <a:pt x="14397737" y="766445"/>
                  </a:lnTo>
                  <a:lnTo>
                    <a:pt x="0" y="766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670" b="-5668"/>
              </a:stretch>
            </a:blipFill>
          </p:spPr>
        </p:sp>
      </p:grpSp>
      <p:sp>
        <p:nvSpPr>
          <p:cNvPr id="9" name="Rounded Rectangle 8"/>
          <p:cNvSpPr/>
          <p:nvPr/>
        </p:nvSpPr>
        <p:spPr>
          <a:xfrm>
            <a:off x="1371600" y="1554480"/>
            <a:ext cx="6766560" cy="301752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182880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1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60320" y="1783080"/>
            <a:ext cx="5349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E81F"/>
                </a:solidFill>
                <a:latin typeface="Calibri" panose="020F0502020204030204"/>
              </a:rPr>
              <a:t>Scattered communication</a:t>
            </a:r>
            <a:endParaRPr sz="34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5920" y="2697480"/>
            <a:ext cx="6217920" cy="16916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 panose="020F0502020204030204"/>
              </a:rPr>
              <a:t>Doubts get buried in WhatsApp groups and are never found again. Juniors keep asking the same questions.</a:t>
            </a:r>
            <a:endParaRPr sz="26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503920" y="1554480"/>
            <a:ext cx="6766560" cy="301752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0" y="182880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2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92640" y="1783080"/>
            <a:ext cx="5349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E81F"/>
                </a:solidFill>
                <a:latin typeface="Calibri" panose="020F0502020204030204"/>
              </a:rPr>
              <a:t>No trusted senior guidance</a:t>
            </a:r>
            <a:endParaRPr sz="34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78240" y="2697480"/>
            <a:ext cx="6217920" cy="16916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 panose="020F0502020204030204"/>
              </a:rPr>
              <a:t>Placement and internship advice is informal. Students can't easily tell a genuine offer from a scam (e.g. fee-based internships).</a:t>
            </a:r>
            <a:endParaRPr sz="26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371600" y="4846320"/>
            <a:ext cx="6766560" cy="301752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45920" y="512064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3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60320" y="5074920"/>
            <a:ext cx="5349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E81F"/>
                </a:solidFill>
                <a:latin typeface="Calibri" panose="020F0502020204030204"/>
              </a:rPr>
              <a:t>Resources go to waste</a:t>
            </a:r>
            <a:endParaRPr sz="34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45920" y="5989320"/>
            <a:ext cx="6217920" cy="16916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 panose="020F0502020204030204"/>
              </a:rPr>
              <a:t>Books, notes and calculators sit unused while juniors buy new ones. There is no campus exchange.</a:t>
            </a:r>
            <a:endParaRPr sz="26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503920" y="4846320"/>
            <a:ext cx="6766560" cy="301752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0" y="512064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4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92640" y="5074920"/>
            <a:ext cx="5349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E81F"/>
                </a:solidFill>
                <a:latin typeface="Calibri" panose="020F0502020204030204"/>
              </a:rPr>
              <a:t>Events and teammates are missed</a:t>
            </a:r>
            <a:endParaRPr sz="34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78240" y="5989320"/>
            <a:ext cx="6217920" cy="16916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 panose="020F0502020204030204"/>
              </a:rPr>
              <a:t>Hackathon news is spread over posters and chats, and finding teammates with the right skills is hard.</a:t>
            </a:r>
            <a:endParaRPr sz="26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371600" y="8229600"/>
            <a:ext cx="13898880" cy="1005840"/>
          </a:xfrm>
          <a:prstGeom prst="roundRect">
            <a:avLst>
              <a:gd name="adj" fmla="val 6000"/>
            </a:avLst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8229600"/>
            <a:ext cx="1335024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0B1024"/>
                </a:solidFill>
                <a:latin typeface="Calibri" panose="020F0502020204030204"/>
              </a:rPr>
              <a:t>Who is affected: students of all 7 branches and 4 years at VESIT, with no single place to learn from each other.</a:t>
            </a:r>
            <a:endParaRPr sz="2900" b="1">
              <a:solidFill>
                <a:srgbClr val="0B102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5000"/>
              </a:blip>
              <a:stretch>
                <a:fillRect t="-124863" b="-12486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78431" y="614867"/>
            <a:ext cx="16731139" cy="9094927"/>
          </a:xfrm>
          <a:custGeom>
            <a:avLst/>
            <a:gdLst/>
            <a:ahLst/>
            <a:cxnLst/>
            <a:rect l="l" t="t" r="r" b="b"/>
            <a:pathLst>
              <a:path w="16731139" h="9094927">
                <a:moveTo>
                  <a:pt x="0" y="0"/>
                </a:moveTo>
                <a:lnTo>
                  <a:pt x="16731138" y="0"/>
                </a:lnTo>
                <a:lnTo>
                  <a:pt x="16731138" y="9094928"/>
                </a:lnTo>
                <a:lnTo>
                  <a:pt x="0" y="909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3106807" y="2761612"/>
            <a:ext cx="3193390" cy="3193390"/>
            <a:chOff x="0" y="0"/>
            <a:chExt cx="4257853" cy="42578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57802" cy="4257802"/>
            </a:xfrm>
            <a:custGeom>
              <a:avLst/>
              <a:gdLst/>
              <a:ahLst/>
              <a:cxnLst/>
              <a:rect l="l" t="t" r="r" b="b"/>
              <a:pathLst>
                <a:path w="4257802" h="4257802">
                  <a:moveTo>
                    <a:pt x="0" y="0"/>
                  </a:moveTo>
                  <a:lnTo>
                    <a:pt x="4257802" y="0"/>
                  </a:lnTo>
                  <a:lnTo>
                    <a:pt x="4257802" y="4257802"/>
                  </a:lnTo>
                  <a:lnTo>
                    <a:pt x="0" y="4257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86582" y="104994"/>
            <a:ext cx="2360647" cy="2256187"/>
            <a:chOff x="0" y="0"/>
            <a:chExt cx="3147530" cy="30082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47568" cy="3008249"/>
            </a:xfrm>
            <a:custGeom>
              <a:avLst/>
              <a:gdLst/>
              <a:ahLst/>
              <a:cxnLst/>
              <a:rect l="l" t="t" r="r" b="b"/>
              <a:pathLst>
                <a:path w="3147568" h="3008249">
                  <a:moveTo>
                    <a:pt x="0" y="0"/>
                  </a:moveTo>
                  <a:lnTo>
                    <a:pt x="3147568" y="0"/>
                  </a:lnTo>
                  <a:lnTo>
                    <a:pt x="3147568" y="3008249"/>
                  </a:lnTo>
                  <a:lnTo>
                    <a:pt x="0" y="3008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80000"/>
              </a:blip>
              <a:stretch>
                <a:fillRect t="-4" r="1" b="-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2549614" y="510959"/>
            <a:ext cx="13580183" cy="517741"/>
            <a:chOff x="0" y="0"/>
            <a:chExt cx="18106911" cy="6903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106898" cy="690372"/>
            </a:xfrm>
            <a:custGeom>
              <a:avLst/>
              <a:gdLst/>
              <a:ahLst/>
              <a:cxnLst/>
              <a:rect l="l" t="t" r="r" b="b"/>
              <a:pathLst>
                <a:path w="18106898" h="690372">
                  <a:moveTo>
                    <a:pt x="0" y="0"/>
                  </a:moveTo>
                  <a:lnTo>
                    <a:pt x="18106898" y="0"/>
                  </a:lnTo>
                  <a:lnTo>
                    <a:pt x="18106898" y="690372"/>
                  </a:lnTo>
                  <a:lnTo>
                    <a:pt x="0" y="690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95" b="-689"/>
              </a:stretch>
            </a:blipFill>
          </p:spPr>
        </p:sp>
      </p:grpSp>
      <p:sp>
        <p:nvSpPr>
          <p:cNvPr id="11" name="TextBox 10"/>
          <p:cNvSpPr txBox="1"/>
          <p:nvPr/>
        </p:nvSpPr>
        <p:spPr>
          <a:xfrm>
            <a:off x="2926080" y="1554480"/>
            <a:ext cx="13990320" cy="1645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 panose="020F0502020204030204"/>
              </a:rPr>
              <a:t>CampusConnect is one verified, college-only platform where VESIT students ask, answer, share and collaborate across branches and years.</a:t>
            </a:r>
            <a:endParaRPr sz="3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926080" y="3474720"/>
            <a:ext cx="2578608" cy="466344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54680" y="3703320"/>
            <a:ext cx="640080" cy="64008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1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08960" y="4526280"/>
            <a:ext cx="2212848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Discussion Forum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08960" y="5486400"/>
            <a:ext cx="2212848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300" b="0">
                <a:solidFill>
                  <a:srgbClr val="FFFFFF"/>
                </a:solidFill>
                <a:latin typeface="Calibri" panose="020F0502020204030204"/>
              </a:rPr>
              <a:t>Posts tagged DSA, Academics, Placements or Projects, with votes and senior-marked replies.</a:t>
            </a:r>
            <a:endParaRPr sz="23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79008" y="3474720"/>
            <a:ext cx="2578608" cy="466344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07608" y="3703320"/>
            <a:ext cx="640080" cy="64008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2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61888" y="4526280"/>
            <a:ext cx="2212848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AI Thread Summary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61888" y="5486400"/>
            <a:ext cx="2212848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300" b="0">
                <a:solidFill>
                  <a:srgbClr val="FFFFFF"/>
                </a:solidFill>
                <a:latin typeface="Calibri" panose="020F0502020204030204"/>
              </a:rPr>
              <a:t>Long threads are condensed into Problem, Key insight and Resources.</a:t>
            </a:r>
            <a:endParaRPr sz="23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31936" y="3474720"/>
            <a:ext cx="2578608" cy="466344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60536" y="3703320"/>
            <a:ext cx="640080" cy="64008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3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14815" y="4526280"/>
            <a:ext cx="2212848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Hackathons &amp; Events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14815" y="5486400"/>
            <a:ext cx="2212848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300" b="0">
                <a:solidFill>
                  <a:srgbClr val="FFFFFF"/>
                </a:solidFill>
                <a:latin typeface="Calibri" panose="020F0502020204030204"/>
              </a:rPr>
              <a:t>Upcoming events with date, venue, team size, prize and registration deadline.</a:t>
            </a:r>
            <a:endParaRPr sz="23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484863" y="3474720"/>
            <a:ext cx="2578608" cy="466344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13463" y="3703320"/>
            <a:ext cx="640080" cy="64008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4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667743" y="4526280"/>
            <a:ext cx="2212848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Resource Exchange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667743" y="5486400"/>
            <a:ext cx="2212848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300" b="0">
                <a:solidFill>
                  <a:srgbClr val="FFFFFF"/>
                </a:solidFill>
                <a:latin typeface="Calibri" panose="020F0502020204030204"/>
              </a:rPr>
              <a:t>Books, notes and kits listed for lending, donation or sale, filtered by year and branch.</a:t>
            </a:r>
            <a:endParaRPr sz="23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4337792" y="3474720"/>
            <a:ext cx="2578608" cy="466344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566392" y="3703320"/>
            <a:ext cx="640080" cy="64008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5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520672" y="4526280"/>
            <a:ext cx="2212848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Profile &amp; Skills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520672" y="5486400"/>
            <a:ext cx="2212848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300" b="0">
                <a:solidFill>
                  <a:srgbClr val="FFFFFF"/>
                </a:solidFill>
                <a:latin typeface="Calibri" panose="020F0502020204030204"/>
              </a:rPr>
              <a:t>Branch, year and skills (C++, Python, VLSI...) make it easy to find teammates.</a:t>
            </a:r>
            <a:endParaRPr sz="23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926080" y="8412480"/>
            <a:ext cx="13990320" cy="822960"/>
          </a:xfrm>
          <a:prstGeom prst="roundRect">
            <a:avLst>
              <a:gd name="adj" fmla="val 6000"/>
            </a:avLst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8412480"/>
            <a:ext cx="134416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0B1024"/>
                </a:solidFill>
                <a:latin typeface="Calibri" panose="020F0502020204030204"/>
              </a:rPr>
              <a:t>Access is limited to verified @ves.ac.in college emails.</a:t>
            </a:r>
            <a:endParaRPr sz="2900" b="1">
              <a:solidFill>
                <a:srgbClr val="0B102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5000"/>
              </a:blip>
              <a:stretch>
                <a:fillRect t="-124863" b="-12486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78431" y="614867"/>
            <a:ext cx="16731139" cy="9094927"/>
          </a:xfrm>
          <a:custGeom>
            <a:avLst/>
            <a:gdLst/>
            <a:ahLst/>
            <a:cxnLst/>
            <a:rect l="l" t="t" r="r" b="b"/>
            <a:pathLst>
              <a:path w="16731139" h="9094927">
                <a:moveTo>
                  <a:pt x="0" y="0"/>
                </a:moveTo>
                <a:lnTo>
                  <a:pt x="16731138" y="0"/>
                </a:lnTo>
                <a:lnTo>
                  <a:pt x="16731138" y="9094928"/>
                </a:lnTo>
                <a:lnTo>
                  <a:pt x="0" y="909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15824244" y="7768199"/>
            <a:ext cx="2260797" cy="2370544"/>
            <a:chOff x="0" y="0"/>
            <a:chExt cx="3014396" cy="3160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14345" cy="3160776"/>
            </a:xfrm>
            <a:custGeom>
              <a:avLst/>
              <a:gdLst/>
              <a:ahLst/>
              <a:cxnLst/>
              <a:rect l="l" t="t" r="r" b="b"/>
              <a:pathLst>
                <a:path w="3014345" h="3160776">
                  <a:moveTo>
                    <a:pt x="0" y="0"/>
                  </a:moveTo>
                  <a:lnTo>
                    <a:pt x="3014345" y="0"/>
                  </a:lnTo>
                  <a:lnTo>
                    <a:pt x="3014345" y="3160776"/>
                  </a:lnTo>
                  <a:lnTo>
                    <a:pt x="0" y="3160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 l="-4" r="-6" b="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2625766" y="486813"/>
            <a:ext cx="13036467" cy="513312"/>
            <a:chOff x="0" y="0"/>
            <a:chExt cx="17381957" cy="6844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81982" cy="684403"/>
            </a:xfrm>
            <a:custGeom>
              <a:avLst/>
              <a:gdLst/>
              <a:ahLst/>
              <a:cxnLst/>
              <a:rect l="l" t="t" r="r" b="b"/>
              <a:pathLst>
                <a:path w="17381982" h="684403">
                  <a:moveTo>
                    <a:pt x="0" y="0"/>
                  </a:moveTo>
                  <a:lnTo>
                    <a:pt x="17381982" y="0"/>
                  </a:lnTo>
                  <a:lnTo>
                    <a:pt x="17381982" y="684403"/>
                  </a:lnTo>
                  <a:lnTo>
                    <a:pt x="0" y="684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80" b="-382"/>
              </a:stretch>
            </a:blipFill>
          </p:spPr>
        </p:sp>
      </p:grpSp>
      <p:sp>
        <p:nvSpPr>
          <p:cNvPr id="9" name="Flow box 1"/>
          <p:cNvSpPr/>
          <p:nvPr/>
        </p:nvSpPr>
        <p:spPr>
          <a:xfrm>
            <a:off x="137160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783080"/>
            <a:ext cx="292607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100" b="1">
                <a:solidFill>
                  <a:srgbClr val="FFE81F"/>
                </a:solidFill>
                <a:latin typeface="Calibri" panose="020F0502020204030204"/>
              </a:rPr>
              <a:t>Student</a:t>
            </a:r>
            <a:endParaRPr sz="31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2926079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 panose="020F0502020204030204"/>
              </a:rPr>
              <a:t>Browser on desktop or mobile</a:t>
            </a:r>
            <a:endParaRPr sz="2600" b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 panose="020F0502020204030204"/>
              </a:rPr>
              <a:t>@ves.ac.in login</a:t>
            </a:r>
            <a:endParaRPr sz="26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553712" y="2468880"/>
            <a:ext cx="448056" cy="640080"/>
          </a:xfrm>
          <a:prstGeom prst="rightArrow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box 2"/>
          <p:cNvSpPr/>
          <p:nvPr/>
        </p:nvSpPr>
        <p:spPr>
          <a:xfrm>
            <a:off x="507492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1783080"/>
            <a:ext cx="292607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100" b="1">
                <a:solidFill>
                  <a:srgbClr val="FFE81F"/>
                </a:solidFill>
                <a:latin typeface="Calibri" panose="020F0502020204030204"/>
              </a:rPr>
              <a:t>Frontend</a:t>
            </a:r>
            <a:endParaRPr sz="31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66359" y="2468880"/>
            <a:ext cx="2926079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 panose="020F0502020204030204"/>
              </a:rPr>
              <a:t>React 18 +</a:t>
            </a:r>
            <a:endParaRPr sz="2600" b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 panose="020F0502020204030204"/>
              </a:rPr>
              <a:t>Tailwind CSS</a:t>
            </a:r>
            <a:endParaRPr sz="26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8257031" y="2468880"/>
            <a:ext cx="448056" cy="640080"/>
          </a:xfrm>
          <a:prstGeom prst="rightArrow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low box 3"/>
          <p:cNvSpPr/>
          <p:nvPr/>
        </p:nvSpPr>
        <p:spPr>
          <a:xfrm>
            <a:off x="877824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783080"/>
            <a:ext cx="292607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100" b="1">
                <a:solidFill>
                  <a:srgbClr val="FFE81F"/>
                </a:solidFill>
                <a:latin typeface="Calibri" panose="020F0502020204030204"/>
              </a:rPr>
              <a:t>Backend</a:t>
            </a:r>
            <a:endParaRPr sz="31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9680" y="2468880"/>
            <a:ext cx="2926079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 panose="020F0502020204030204"/>
              </a:rPr>
              <a:t>Supabase Auth +</a:t>
            </a:r>
            <a:endParaRPr sz="2600" b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 panose="020F0502020204030204"/>
              </a:rPr>
              <a:t>Database (planned)</a:t>
            </a:r>
            <a:endParaRPr sz="26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11960352" y="2468880"/>
            <a:ext cx="448056" cy="640080"/>
          </a:xfrm>
          <a:prstGeom prst="rightArrow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low box 4"/>
          <p:cNvSpPr/>
          <p:nvPr/>
        </p:nvSpPr>
        <p:spPr>
          <a:xfrm>
            <a:off x="12481559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72999" y="1783080"/>
            <a:ext cx="292607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100" b="1">
                <a:solidFill>
                  <a:srgbClr val="FFE81F"/>
                </a:solidFill>
                <a:latin typeface="Calibri" panose="020F0502020204030204"/>
              </a:rPr>
              <a:t>AI Layer</a:t>
            </a:r>
            <a:endParaRPr sz="31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72999" y="2468880"/>
            <a:ext cx="2926079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 panose="020F0502020204030204"/>
              </a:rPr>
              <a:t>Google Gemini API</a:t>
            </a:r>
            <a:endParaRPr sz="26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371600" y="4297680"/>
            <a:ext cx="4526280" cy="484632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526280"/>
            <a:ext cx="40233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E81F"/>
                </a:solidFill>
                <a:latin typeface="Calibri" panose="020F0502020204030204"/>
              </a:rPr>
              <a:t>Frontend</a:t>
            </a:r>
            <a:endParaRPr sz="34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45920" y="5074920"/>
            <a:ext cx="3977640" cy="3886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React 18 with hooks, single-page app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Tailwind CSS, responsive layout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Sidebar on desktop, bottom nav on mobile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Light / dark theme remembered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17920" y="4297680"/>
            <a:ext cx="4526280" cy="484632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526280"/>
            <a:ext cx="40233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E81F"/>
                </a:solidFill>
                <a:latin typeface="Calibri" panose="020F0502020204030204"/>
              </a:rPr>
              <a:t>Backend &amp; Data</a:t>
            </a:r>
            <a:endParaRPr sz="34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240" y="5074920"/>
            <a:ext cx="3977640" cy="3886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Email + password sign-in via Supabase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Only @ves.ac.in emails accepted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Tables: posts, replies, events, resources, profiles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Prototype runs on sample data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1064240" y="4297680"/>
            <a:ext cx="4526280" cy="484632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38560" y="4526280"/>
            <a:ext cx="40233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E81F"/>
                </a:solidFill>
                <a:latin typeface="Calibri" panose="020F0502020204030204"/>
              </a:rPr>
              <a:t>AI Layer</a:t>
            </a:r>
            <a:endParaRPr sz="34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338560" y="5074920"/>
            <a:ext cx="3977640" cy="3886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Gemini generateContent API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Summarises a thread into Problem / Key insight / Resources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Demo mode works without an API key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5000"/>
              </a:blip>
              <a:stretch>
                <a:fillRect t="-124863" b="-12486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78431" y="614867"/>
            <a:ext cx="16731139" cy="9094927"/>
          </a:xfrm>
          <a:custGeom>
            <a:avLst/>
            <a:gdLst/>
            <a:ahLst/>
            <a:cxnLst/>
            <a:rect l="l" t="t" r="r" b="b"/>
            <a:pathLst>
              <a:path w="16731139" h="9094927">
                <a:moveTo>
                  <a:pt x="0" y="0"/>
                </a:moveTo>
                <a:lnTo>
                  <a:pt x="16731138" y="0"/>
                </a:lnTo>
                <a:lnTo>
                  <a:pt x="16731138" y="9094928"/>
                </a:lnTo>
                <a:lnTo>
                  <a:pt x="0" y="909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142875" y="7897749"/>
            <a:ext cx="3778348" cy="2835402"/>
            <a:chOff x="0" y="0"/>
            <a:chExt cx="5037798" cy="37805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37836" cy="3780536"/>
            </a:xfrm>
            <a:custGeom>
              <a:avLst/>
              <a:gdLst/>
              <a:ahLst/>
              <a:cxnLst/>
              <a:rect l="l" t="t" r="r" b="b"/>
              <a:pathLst>
                <a:path w="5037836" h="3780536">
                  <a:moveTo>
                    <a:pt x="0" y="0"/>
                  </a:moveTo>
                  <a:lnTo>
                    <a:pt x="5037836" y="0"/>
                  </a:lnTo>
                  <a:lnTo>
                    <a:pt x="5037836" y="3780536"/>
                  </a:lnTo>
                  <a:lnTo>
                    <a:pt x="0" y="3780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 t="-43" b="-4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2601887" y="448085"/>
            <a:ext cx="13084226" cy="580615"/>
            <a:chOff x="0" y="0"/>
            <a:chExt cx="17445634" cy="7741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445610" cy="774192"/>
            </a:xfrm>
            <a:custGeom>
              <a:avLst/>
              <a:gdLst/>
              <a:ahLst/>
              <a:cxnLst/>
              <a:rect l="l" t="t" r="r" b="b"/>
              <a:pathLst>
                <a:path w="17445610" h="774192">
                  <a:moveTo>
                    <a:pt x="0" y="0"/>
                  </a:moveTo>
                  <a:lnTo>
                    <a:pt x="17445610" y="0"/>
                  </a:lnTo>
                  <a:lnTo>
                    <a:pt x="17445610" y="774192"/>
                  </a:lnTo>
                  <a:lnTo>
                    <a:pt x="0" y="774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5" b="-459"/>
              </a:stretch>
            </a:blipFill>
          </p:spPr>
        </p:sp>
      </p:grpSp>
      <p:sp>
        <p:nvSpPr>
          <p:cNvPr id="9" name="Rounded Rectangle 8"/>
          <p:cNvSpPr/>
          <p:nvPr/>
        </p:nvSpPr>
        <p:spPr>
          <a:xfrm>
            <a:off x="3931920" y="1645920"/>
            <a:ext cx="4114800" cy="352044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192024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1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20640" y="1874519"/>
            <a:ext cx="26974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College-only access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06240" y="2788920"/>
            <a:ext cx="356616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Sign-up is restricted to @ves.ac.in emails, so every post comes from a real VESIT student.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66759" y="1645920"/>
            <a:ext cx="4114800" cy="352044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41080" y="192024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2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55480" y="1874519"/>
            <a:ext cx="26974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AI thread summaries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41080" y="2788920"/>
            <a:ext cx="356616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Gemini turns a long discussion into three quick lines, saving time before exams and placements.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2801600" y="1645920"/>
            <a:ext cx="4114800" cy="352044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075920" y="192024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3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990320" y="1874519"/>
            <a:ext cx="26974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Senior-verified answers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075920" y="2788920"/>
            <a:ext cx="356616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Replies from 3rd and 4th year students carry a senior badge, so advice is trusted.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931920" y="5440680"/>
            <a:ext cx="4114800" cy="352044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06240" y="571500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4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20640" y="5669280"/>
            <a:ext cx="26974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Branch-aware by design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06240" y="6583680"/>
            <a:ext cx="356616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Covers all 7 branches: Computer, IT, AI &amp; DS, EXTC, Electronics, ECS, Automation &amp; Robotics.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366759" y="5440680"/>
            <a:ext cx="4114800" cy="352044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41080" y="571500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5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555480" y="5669280"/>
            <a:ext cx="26974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Lend, donate or sell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41080" y="6583680"/>
            <a:ext cx="356616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A circular resource exchange cuts cost for juniors and waste on campus.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2801600" y="5440680"/>
            <a:ext cx="4114800" cy="352044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075920" y="571500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6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990320" y="5669280"/>
            <a:ext cx="26974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Find your hackathon team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075920" y="6583680"/>
            <a:ext cx="356616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Event listings plus skill-based profiles solve the 'need an embedded + web dev' problem.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5000"/>
              </a:blip>
              <a:stretch>
                <a:fillRect t="-124863" b="-12486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78431" y="614867"/>
            <a:ext cx="16731139" cy="9094927"/>
          </a:xfrm>
          <a:custGeom>
            <a:avLst/>
            <a:gdLst/>
            <a:ahLst/>
            <a:cxnLst/>
            <a:rect l="l" t="t" r="r" b="b"/>
            <a:pathLst>
              <a:path w="16731139" h="9094927">
                <a:moveTo>
                  <a:pt x="0" y="0"/>
                </a:moveTo>
                <a:lnTo>
                  <a:pt x="16731138" y="0"/>
                </a:lnTo>
                <a:lnTo>
                  <a:pt x="16731138" y="9094928"/>
                </a:lnTo>
                <a:lnTo>
                  <a:pt x="0" y="909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0" y="0"/>
            <a:ext cx="2801503" cy="2801503"/>
            <a:chOff x="0" y="0"/>
            <a:chExt cx="3735337" cy="37353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35324" cy="3735324"/>
            </a:xfrm>
            <a:custGeom>
              <a:avLst/>
              <a:gdLst/>
              <a:ahLst/>
              <a:cxnLst/>
              <a:rect l="l" t="t" r="r" b="b"/>
              <a:pathLst>
                <a:path w="3735324" h="3735324">
                  <a:moveTo>
                    <a:pt x="0" y="0"/>
                  </a:moveTo>
                  <a:lnTo>
                    <a:pt x="3735324" y="0"/>
                  </a:lnTo>
                  <a:lnTo>
                    <a:pt x="3735324" y="3735324"/>
                  </a:lnTo>
                  <a:lnTo>
                    <a:pt x="0" y="3735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3762146" y="510692"/>
            <a:ext cx="10641263" cy="512112"/>
            <a:chOff x="0" y="0"/>
            <a:chExt cx="14188351" cy="6828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188312" cy="682752"/>
            </a:xfrm>
            <a:custGeom>
              <a:avLst/>
              <a:gdLst/>
              <a:ahLst/>
              <a:cxnLst/>
              <a:rect l="l" t="t" r="r" b="b"/>
              <a:pathLst>
                <a:path w="14188312" h="682752">
                  <a:moveTo>
                    <a:pt x="0" y="0"/>
                  </a:moveTo>
                  <a:lnTo>
                    <a:pt x="14188312" y="0"/>
                  </a:lnTo>
                  <a:lnTo>
                    <a:pt x="1418831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4" b="-481"/>
              </a:stretch>
            </a:blipFill>
          </p:spPr>
        </p:sp>
      </p:grpSp>
      <p:sp>
        <p:nvSpPr>
          <p:cNvPr id="9" name="Pentagon 8"/>
          <p:cNvSpPr/>
          <p:nvPr/>
        </p:nvSpPr>
        <p:spPr>
          <a:xfrm>
            <a:off x="3017520" y="1737360"/>
            <a:ext cx="3246120" cy="1188720"/>
          </a:xfrm>
          <a:prstGeom prst="homePlate">
            <a:avLst/>
          </a:prstGeom>
          <a:solidFill>
            <a:srgbClr val="FFE81F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79" y="1783080"/>
            <a:ext cx="242316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0B1024"/>
                </a:solidFill>
                <a:latin typeface="Calibri" panose="020F0502020204030204"/>
              </a:rPr>
              <a:t>Phase 1</a:t>
            </a:r>
            <a:endParaRPr sz="2600" b="0">
              <a:solidFill>
                <a:srgbClr val="0B1024"/>
              </a:solidFill>
              <a:latin typeface="Calibri" panose="020F0502020204030204"/>
            </a:endParaRPr>
          </a:p>
          <a:p>
            <a:pPr>
              <a:spcAft>
                <a:spcPts val="400"/>
              </a:spcAft>
            </a:pPr>
            <a:r>
              <a:rPr sz="3100" b="1">
                <a:solidFill>
                  <a:srgbClr val="0B1024"/>
                </a:solidFill>
                <a:latin typeface="Calibri" panose="020F0502020204030204"/>
              </a:rPr>
              <a:t>Prototype</a:t>
            </a:r>
            <a:endParaRPr sz="31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17520" y="3200400"/>
            <a:ext cx="3246120" cy="594360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3337560"/>
            <a:ext cx="27889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FFE81F"/>
                </a:solidFill>
                <a:latin typeface="Calibri" panose="020F0502020204030204"/>
              </a:rPr>
              <a:t>DONE</a:t>
            </a:r>
            <a:endParaRPr sz="26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46120" y="4023360"/>
            <a:ext cx="2788920" cy="4937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Login with college-email check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Home, Forum, Hackathons, Resources, Profile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Light / dark theme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Sample data and AI summary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Pentagon 13"/>
          <p:cNvSpPr/>
          <p:nvPr/>
        </p:nvSpPr>
        <p:spPr>
          <a:xfrm>
            <a:off x="6583679" y="1737360"/>
            <a:ext cx="3246120" cy="1188720"/>
          </a:xfrm>
          <a:prstGeom prst="homePlate">
            <a:avLst/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783080"/>
            <a:ext cx="242316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FFE81F"/>
                </a:solidFill>
                <a:latin typeface="Calibri" panose="020F0502020204030204"/>
              </a:rPr>
              <a:t>Phase 2</a:t>
            </a:r>
            <a:endParaRPr sz="2600" b="0">
              <a:solidFill>
                <a:srgbClr val="FFE81F"/>
              </a:solidFill>
              <a:latin typeface="Calibri" panose="020F0502020204030204"/>
            </a:endParaRPr>
          </a:p>
          <a:p>
            <a:pPr>
              <a:spcAft>
                <a:spcPts val="400"/>
              </a:spcAft>
            </a:pPr>
            <a:r>
              <a:rPr sz="3100" b="1">
                <a:solidFill>
                  <a:srgbClr val="FFE81F"/>
                </a:solidFill>
                <a:latin typeface="Calibri" panose="020F0502020204030204"/>
              </a:rPr>
              <a:t>Backend</a:t>
            </a:r>
            <a:endParaRPr sz="31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79" y="3200400"/>
            <a:ext cx="3246120" cy="594360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79" y="3337560"/>
            <a:ext cx="27889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FFE81F"/>
                </a:solidFill>
                <a:latin typeface="Calibri" panose="020F0502020204030204"/>
              </a:rPr>
              <a:t>NEXT</a:t>
            </a:r>
            <a:endParaRPr sz="26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12279" y="4023360"/>
            <a:ext cx="2788920" cy="4937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Connect Supabase Auth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Move posts, replies, events and resources to the database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Real-time updates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Pentagon 18"/>
          <p:cNvSpPr/>
          <p:nvPr/>
        </p:nvSpPr>
        <p:spPr>
          <a:xfrm>
            <a:off x="10149840" y="1737360"/>
            <a:ext cx="3246120" cy="1188720"/>
          </a:xfrm>
          <a:prstGeom prst="homePlate">
            <a:avLst/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1783080"/>
            <a:ext cx="242316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FFE81F"/>
                </a:solidFill>
                <a:latin typeface="Calibri" panose="020F0502020204030204"/>
              </a:rPr>
              <a:t>Phase 3</a:t>
            </a:r>
            <a:endParaRPr sz="2600" b="0">
              <a:solidFill>
                <a:srgbClr val="FFE81F"/>
              </a:solidFill>
              <a:latin typeface="Calibri" panose="020F0502020204030204"/>
            </a:endParaRPr>
          </a:p>
          <a:p>
            <a:pPr>
              <a:spcAft>
                <a:spcPts val="400"/>
              </a:spcAft>
            </a:pPr>
            <a:r>
              <a:rPr sz="3100" b="1">
                <a:solidFill>
                  <a:srgbClr val="FFE81F"/>
                </a:solidFill>
                <a:latin typeface="Calibri" panose="020F0502020204030204"/>
              </a:rPr>
              <a:t>AI &amp; Trust</a:t>
            </a:r>
            <a:endParaRPr sz="31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149840" y="3200400"/>
            <a:ext cx="3246120" cy="594360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78440" y="3337560"/>
            <a:ext cx="27889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FFE81F"/>
                </a:solidFill>
                <a:latin typeface="Calibri" panose="020F0502020204030204"/>
              </a:rPr>
              <a:t>PLANNED</a:t>
            </a:r>
            <a:endParaRPr sz="26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78440" y="4023360"/>
            <a:ext cx="2788920" cy="4937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Live Gemini summaries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Senior verification flow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Report and moderation tools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Pentagon 23"/>
          <p:cNvSpPr/>
          <p:nvPr/>
        </p:nvSpPr>
        <p:spPr>
          <a:xfrm>
            <a:off x="13716000" y="1737360"/>
            <a:ext cx="3246120" cy="1188720"/>
          </a:xfrm>
          <a:prstGeom prst="homePlate">
            <a:avLst/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53160" y="1783080"/>
            <a:ext cx="242316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FFE81F"/>
                </a:solidFill>
                <a:latin typeface="Calibri" panose="020F0502020204030204"/>
              </a:rPr>
              <a:t>Phase 4</a:t>
            </a:r>
            <a:endParaRPr sz="2600" b="0">
              <a:solidFill>
                <a:srgbClr val="FFE81F"/>
              </a:solidFill>
              <a:latin typeface="Calibri" panose="020F0502020204030204"/>
            </a:endParaRPr>
          </a:p>
          <a:p>
            <a:pPr>
              <a:spcAft>
                <a:spcPts val="400"/>
              </a:spcAft>
            </a:pPr>
            <a:r>
              <a:rPr sz="3100" b="1">
                <a:solidFill>
                  <a:srgbClr val="FFE81F"/>
                </a:solidFill>
                <a:latin typeface="Calibri" panose="020F0502020204030204"/>
              </a:rPr>
              <a:t>Pilot &amp; Scale</a:t>
            </a:r>
            <a:endParaRPr sz="31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3716000" y="3200400"/>
            <a:ext cx="3246120" cy="594360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944600" y="3337560"/>
            <a:ext cx="27889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FFE81F"/>
                </a:solidFill>
                <a:latin typeface="Calibri" panose="020F0502020204030204"/>
              </a:rPr>
              <a:t>PLANNED</a:t>
            </a:r>
            <a:endParaRPr sz="26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944600" y="4023360"/>
            <a:ext cx="2788920" cy="4937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Pilot with one VESIT batch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Collect feedback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Onboard clubs and the placement cell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5000"/>
              </a:blip>
              <a:stretch>
                <a:fillRect t="-124863" b="-12486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78431" y="614867"/>
            <a:ext cx="16731139" cy="9094927"/>
          </a:xfrm>
          <a:custGeom>
            <a:avLst/>
            <a:gdLst/>
            <a:ahLst/>
            <a:cxnLst/>
            <a:rect l="l" t="t" r="r" b="b"/>
            <a:pathLst>
              <a:path w="16731139" h="9094927">
                <a:moveTo>
                  <a:pt x="0" y="0"/>
                </a:moveTo>
                <a:lnTo>
                  <a:pt x="16731138" y="0"/>
                </a:lnTo>
                <a:lnTo>
                  <a:pt x="16731138" y="9094928"/>
                </a:lnTo>
                <a:lnTo>
                  <a:pt x="0" y="909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5543293" y="515598"/>
            <a:ext cx="7201414" cy="513102"/>
            <a:chOff x="0" y="0"/>
            <a:chExt cx="9601886" cy="6841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601835" cy="684149"/>
            </a:xfrm>
            <a:custGeom>
              <a:avLst/>
              <a:gdLst/>
              <a:ahLst/>
              <a:cxnLst/>
              <a:rect l="l" t="t" r="r" b="b"/>
              <a:pathLst>
                <a:path w="9601835" h="684149">
                  <a:moveTo>
                    <a:pt x="0" y="0"/>
                  </a:moveTo>
                  <a:lnTo>
                    <a:pt x="9601835" y="0"/>
                  </a:lnTo>
                  <a:lnTo>
                    <a:pt x="9601835" y="684149"/>
                  </a:lnTo>
                  <a:lnTo>
                    <a:pt x="0" y="684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7" b="-36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16625478" y="7387857"/>
            <a:ext cx="1351245" cy="2779700"/>
            <a:chOff x="0" y="0"/>
            <a:chExt cx="1801660" cy="37062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01622" cy="3706241"/>
            </a:xfrm>
            <a:custGeom>
              <a:avLst/>
              <a:gdLst/>
              <a:ahLst/>
              <a:cxnLst/>
              <a:rect l="l" t="t" r="r" b="b"/>
              <a:pathLst>
                <a:path w="1801622" h="3706241">
                  <a:moveTo>
                    <a:pt x="0" y="0"/>
                  </a:moveTo>
                  <a:lnTo>
                    <a:pt x="1801622" y="0"/>
                  </a:lnTo>
                  <a:lnTo>
                    <a:pt x="1801622" y="3706241"/>
                  </a:lnTo>
                  <a:lnTo>
                    <a:pt x="0" y="3706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9" r="-131"/>
              </a:stretch>
            </a:blipFill>
          </p:spPr>
        </p:sp>
      </p:grpSp>
      <p:sp>
        <p:nvSpPr>
          <p:cNvPr id="9" name="TextBox 8"/>
          <p:cNvSpPr txBox="1"/>
          <p:nvPr/>
        </p:nvSpPr>
        <p:spPr>
          <a:xfrm>
            <a:off x="1371600" y="1508760"/>
            <a:ext cx="1490472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 panose="020F0502020204030204"/>
              </a:rPr>
              <a:t>Free for students. Sustained by campus partners.</a:t>
            </a:r>
            <a:endParaRPr sz="3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71600" y="2286000"/>
            <a:ext cx="4754880" cy="3749039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45920" y="256032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1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0" y="2514600"/>
            <a:ext cx="33375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Sponsored events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4206240" cy="24231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Clubs, companies and organisers pay to feature hackathons, workshops and contests to targeted branches.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92240" y="2286000"/>
            <a:ext cx="4754880" cy="3749039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59" y="256032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2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80960" y="2514600"/>
            <a:ext cx="33375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Recruiter &amp; placement tie-ups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66559" y="3429000"/>
            <a:ext cx="4206240" cy="24231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Verified internship and job postings reach the right branch and year; scam offers are filtered out.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612880" y="2286000"/>
            <a:ext cx="4754880" cy="3749039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87200" y="2560320"/>
            <a:ext cx="685800" cy="685800"/>
          </a:xfrm>
          <a:prstGeom prst="ellipse">
            <a:avLst/>
          </a:prstGeom>
          <a:solidFill>
            <a:srgbClr val="FFE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rgbClr val="0B1024"/>
                </a:solidFill>
                <a:latin typeface="Calibri" panose="020F0502020204030204"/>
              </a:rPr>
              <a:t>3</a:t>
            </a:r>
            <a:endParaRPr sz="2800" b="1">
              <a:solidFill>
                <a:srgbClr val="0B1024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801600" y="2514600"/>
            <a:ext cx="33375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900" b="1">
                <a:solidFill>
                  <a:srgbClr val="FFE81F"/>
                </a:solidFill>
                <a:latin typeface="Calibri" panose="020F0502020204030204"/>
              </a:rPr>
              <a:t>Club &amp; institute dashboard</a:t>
            </a:r>
            <a:endParaRPr sz="29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887200" y="3429000"/>
            <a:ext cx="4206240" cy="24231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Paid analytics on engagement, doubts and event reach for clubs, departments and the placement cell.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371600" y="6309360"/>
            <a:ext cx="7315200" cy="292608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6537960"/>
            <a:ext cx="68122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E81F"/>
                </a:solidFill>
                <a:latin typeface="Calibri" panose="020F0502020204030204"/>
              </a:rPr>
              <a:t>Target users</a:t>
            </a:r>
            <a:endParaRPr sz="34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45920" y="7086600"/>
            <a:ext cx="6766560" cy="1965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Students of all 7 VESIT branches, 1st to 4th year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Clubs, departments and the placement cell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Expandable to other colleges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961120" y="6309360"/>
            <a:ext cx="7315200" cy="2926080"/>
          </a:xfrm>
          <a:prstGeom prst="roundRect">
            <a:avLst>
              <a:gd name="adj" fmla="val 6000"/>
            </a:avLst>
          </a:prstGeom>
          <a:solidFill>
            <a:srgbClr val="121A36"/>
          </a:solidFill>
          <a:ln w="15875">
            <a:solidFill>
              <a:srgbClr val="FFE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6537960"/>
            <a:ext cx="68122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FFE81F"/>
                </a:solidFill>
                <a:latin typeface="Calibri" panose="020F0502020204030204"/>
              </a:rPr>
              <a:t>Cost &amp; sustainability</a:t>
            </a:r>
            <a:endParaRPr sz="3400" b="1">
              <a:solidFill>
                <a:srgbClr val="FFE81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35440" y="7086600"/>
            <a:ext cx="6766560" cy="1965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Low running cost on Supabase and Gemini API tiers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Student trust first: no ads in the forum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FFFFFF"/>
                </a:solidFill>
                <a:latin typeface="Calibri" panose="020F0502020204030204"/>
              </a:rPr>
              <a:t>•  Revenue only from opt-in partners</a:t>
            </a:r>
            <a:endParaRPr sz="2500" b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3944</Words>
  <Application>WPS Presentation</Application>
  <PresentationFormat>On-screen Show (4:3)</PresentationFormat>
  <Paragraphs>222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DM Sans Bold</vt:lpstr>
      <vt:lpstr>Roboto</vt:lpstr>
      <vt:lpstr>Cinzel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SYRUS 7.0 PPT TEMPLATE_20261009_105455_0000.pptx</dc:title>
  <dc:creator/>
  <cp:lastModifiedBy>shrey</cp:lastModifiedBy>
  <cp:revision>2</cp:revision>
  <dcterms:created xsi:type="dcterms:W3CDTF">2006-08-16T00:00:00Z</dcterms:created>
  <dcterms:modified xsi:type="dcterms:W3CDTF">2026-10-09T13:47:55Z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86C34DEED82C45F8A0F8AA25768A0ACB_12</vt:lpwstr>
  </property>
  <property fmtid="{D5CDD505-2E9C-101B-9397-08002B2CF9AE}" pid="3" name="KSOProductBuildVer">
    <vt:lpwstr>1033-12.1.0.28485</vt:lpwstr>
  </property>
</Properties>
</file>